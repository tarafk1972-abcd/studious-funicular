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280160"/>
            <a:ext cx="4206240" cy="4206240"/>
          </a:xfrm>
          <a:prstGeom prst="ellipse">
            <a:avLst/>
          </a:prstGeom>
          <a:solidFill>
            <a:srgbClr val="7F1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63040" y="4937760"/>
            <a:ext cx="3474720" cy="3474720"/>
          </a:xfrm>
          <a:prstGeom prst="ellipse">
            <a:avLst/>
          </a:prstGeom>
          <a:solidFill>
            <a:srgbClr val="0B3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14400"/>
            <a:ext cx="777240" cy="77724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3400" b="1">
                <a:solidFill>
                  <a:srgbClr val="FFFFFF"/>
                </a:solidFill>
                <a:latin typeface="Segoe UI"/>
              </a:rPr>
              <a:t>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Segoe UI"/>
              </a:rPr>
              <a:t>WORKFLOW APLIKASI</a:t>
            </a:r>
          </a:p>
          <a:p>
            <a:pPr algn="l"/>
            <a:r>
              <a:rPr sz="5400" b="1">
                <a:solidFill>
                  <a:srgbClr val="FFFFFF"/>
                </a:solidFill>
                <a:latin typeface="Segoe UI"/>
              </a:rPr>
              <a:t>WargaJagaWarga</a:t>
            </a:r>
          </a:p>
          <a:p>
            <a:pPr algn="l"/>
            <a:r>
              <a:rPr sz="2000" b="0">
                <a:solidFill>
                  <a:srgbClr val="CBD5E1"/>
                </a:solidFill>
                <a:latin typeface="Segoe UI"/>
              </a:rPr>
              <a:t>Satu sentuhan, Satpam dan tetanggamu datang.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663440"/>
            <a:ext cx="352044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50" b="1">
                <a:solidFill>
                  <a:srgbClr val="10B981"/>
                </a:solidFill>
                <a:latin typeface="Segoe UI"/>
              </a:rPr>
              <a:t>🇮🇩 Bahasa Indonesia Default + Opsi Bahasa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4663440"/>
            <a:ext cx="352044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50" b="1">
                <a:solidFill>
                  <a:srgbClr val="F59E0B"/>
                </a:solidFill>
                <a:latin typeface="Segoe UI"/>
              </a:rPr>
              <a:t>💳 Aplikasi Berbayar • Trial Gratis 14 Hari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4663440"/>
            <a:ext cx="3520440" cy="5029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50" b="1">
                <a:solidFill>
                  <a:srgbClr val="6366F1"/>
                </a:solidFill>
                <a:latin typeface="Segoe UI"/>
              </a:rPr>
              <a:t>👑 Diawasi Superadmin: tarafk1972@gmail.com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Segoe UI"/>
              </a:rPr>
              <a:t>Full-Stack Next.js 14 • Platform Tanggap Darurat Komunitas Perumahan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egoe UI"/>
              </a:rPr>
              <a:t>GAMBARAN UMUM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4 Peran Pengguna dalam Aplikasi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2724912" cy="4297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700" b="1">
                <a:solidFill>
                  <a:srgbClr val="10B981"/>
                </a:solidFill>
                <a:latin typeface="Segoe UI"/>
              </a:rPr>
              <a:t>👤 WARGA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Mendaftar &amp; memilih bahasa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Tekan tombol SOS darurat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Merespons &amp; berkomentar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Melihat peta klaster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55848" y="1600200"/>
            <a:ext cx="2724912" cy="4297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700" b="1">
                <a:solidFill>
                  <a:srgbClr val="F59E0B"/>
                </a:solidFill>
                <a:latin typeface="Segoe UI"/>
              </a:rPr>
              <a:t>🛡️ SATPAM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Status: Siaga / Patroli /
Merespons / Istirahat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Merespons SOS warga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Pantau peta kejadian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Ditetapkan oleh Admin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08776" y="1600200"/>
            <a:ext cx="2724912" cy="4297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700" b="1">
                <a:solidFill>
                  <a:srgbClr val="A855F7"/>
                </a:solidFill>
                <a:latin typeface="Segoe UI"/>
              </a:rPr>
              <a:t>⭐ ADMIN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Pendaftar PERTAMA otomatis
menjadi Admin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Accept / Reject anggota baru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Tentukan peran: Warga /
Satpam / Admin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Kelola area pada peta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61704" y="1600200"/>
            <a:ext cx="2724912" cy="4297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700" b="1">
                <a:solidFill>
                  <a:srgbClr val="6366F1"/>
                </a:solidFill>
                <a:latin typeface="Segoe UI"/>
              </a:rPr>
              <a:t>👑 SUPERADMIN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Email tarafk1972@gmail.com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Mengawasi semua Admin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Customer Service resmi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CBD5E1"/>
                </a:solidFill>
                <a:latin typeface="Segoe UI"/>
              </a:rPr>
              <a:t>•  Awasi langganan berbayar
(trial, tangguhkan, aktifkan)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6035040"/>
            <a:ext cx="11201400" cy="384048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00" b="0">
                <a:solidFill>
                  <a:srgbClr val="94A3B8"/>
                </a:solidFill>
                <a:latin typeface="Segoe UI"/>
              </a:rPr>
              <a:t>Alur peran: Warga pertama mendaftar → otomatis ADMIN → mengajak &amp; menyetujui anggota lain → Superadmin mengawasi seluruh klaster.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WORKFLOW 1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Registrasi Anggota &amp; Pilihan Bahasa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488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📱 Buka Aplikasi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Tombol "Daftar — Gratis
14 Hari" di beranda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88336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8960" y="1828800"/>
            <a:ext cx="21488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📝 Isi Formulir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Nama, email, HP, blok,
klaster, peran diajukan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94376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1828800"/>
            <a:ext cx="21488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🌐 Pilih Bahasa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🇮🇩 Indonesia (default)
atau 🇬🇧 English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21488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💳 Trial Dimulai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Gratis 14 hari otomatis
tercatat di akun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506456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27080" y="1828800"/>
            <a:ext cx="21488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⏳ Menunggu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Status: MENUNGGU
persetujuan Admin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80"/>
            <a:ext cx="5486400" cy="2377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500" b="1">
                <a:solidFill>
                  <a:srgbClr val="10B981"/>
                </a:solidFill>
                <a:latin typeface="Segoe UI"/>
              </a:rPr>
              <a:t>🌐 Aturan Bahasa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Bahasa Indonesia adalah bahasa default aplikasi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Bahasa dipilih SAAT registrasi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Bahasa pilihan menjadi default seluruh teks aplikasi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   untuk akun tersebut (tersimpan di profil)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Diterapkan otomatis setiap kali pengguna aktif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486400" cy="2377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500" b="1">
                <a:solidFill>
                  <a:srgbClr val="6366F1"/>
                </a:solidFill>
                <a:latin typeface="Segoe UI"/>
              </a:rPr>
              <a:t>⚡ Kasus Khusus Saat Registrasi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Email tarafk1972@gmail.com  →  langsung menjadi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   SUPERADMIN &amp; Customer Service (tanpa antre)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Pendaftar PERTAMA di klaster  →  otomatis ADMIN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   &amp; langsung DISETUJUI (lihat Workflow 2)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Pendaftar berikutnya  →  antre persetujuan Admin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A85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Segoe UI"/>
              </a:rPr>
              <a:t>WORKFLOW 2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Admin Pertama &amp; Persetujuan Anggota 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855F7"/>
                </a:solidFill>
                <a:latin typeface="Segoe UI"/>
              </a:rPr>
              <a:t>JALUR A — PENDAFTAR PERTAMA DI KLASTER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468880" cy="9601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🏘️ Klaster Baru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Belum ada Admin
di klaster tersebut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35808" y="228600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520440" y="1920240"/>
            <a:ext cx="2468880" cy="9601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⭐ Otomatis ADMIN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Langsung DISETUJUI,
tanpa menunggu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53328" y="228600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920240"/>
            <a:ext cx="2468880" cy="9601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📣 Mengajak Warga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Sebarkan aplikasi &amp;
ajak anggota lain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070848" y="228600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555480" y="1920240"/>
            <a:ext cx="2148840" cy="9601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⭐ Promosi Admin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Bisa jadikan anggota
lain sebagai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00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JALUR B — ANGGOTA BERIKUTNYA (ANTREAN PERSETUJUAN ADMIN)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2468880" cy="9601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⏳ MENUNGGU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Anggota baru masuk
antrean persetujuan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035808" y="393192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3520440" y="3456432"/>
            <a:ext cx="2468880" cy="1188720"/>
          </a:xfrm>
          <a:prstGeom prst="diamond">
            <a:avLst/>
          </a:prstGeom>
          <a:solidFill>
            <a:srgbClr val="1E293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Keputusan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Admin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053328" y="3611880"/>
            <a:ext cx="384048" cy="23774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37960" y="3063240"/>
            <a:ext cx="246888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✅ ACCEPT + Tentukan Peran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Warga / Satpam / Admin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70848" y="3337560"/>
            <a:ext cx="384048" cy="23774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55480" y="3063240"/>
            <a:ext cx="214884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🎉 DISETUJUI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Anggota aktif &amp;
terhubung klaster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069080"/>
            <a:ext cx="246888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❌ REJECT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Status DITOLAK — tidak
terhubung ke klaster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257800"/>
            <a:ext cx="11201400" cy="8686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💡 Hak Admin: menyetujui/menolak anggota baru sekaligus menentukan perannya (Warga, Satpam, atau Admin). Superadmin dapat melakukan hal yang sama di semua klaster sekaligus mengawasi kinerja para Admin.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Segoe UI"/>
              </a:rPr>
              <a:t>WORKFLOW 3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Pengalaman Setelah HP Terdaftar &amp; Disetujui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37360"/>
            <a:ext cx="5394960" cy="31089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300" b="1">
                <a:solidFill>
                  <a:srgbClr val="94A3B8"/>
                </a:solidFill>
                <a:latin typeface="Segoe UI"/>
              </a:rPr>
              <a:t>SEBELUM DISETUJUI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Beranda menampilkan:</a:t>
            </a:r>
          </a:p>
          <a:p>
            <a:pPr algn="l"/>
            <a:r>
              <a:rPr sz="4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Segoe UI"/>
              </a:rPr>
              <a:t>🔴  Tombol "Buka Aplikasi Darurat"</a:t>
            </a:r>
          </a:p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🔘  Tombol "Daftar — Gratis 14 Hari"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Pengguna masih calon anggota /</a:t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menunggu persetujuan Admin.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89320" y="3108960"/>
            <a:ext cx="685800" cy="411480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1737360"/>
            <a:ext cx="4937760" cy="31089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300" b="1">
                <a:solidFill>
                  <a:srgbClr val="10B981"/>
                </a:solidFill>
                <a:latin typeface="Segoe UI"/>
              </a:rPr>
              <a:t>SETELAH DISETUJUI ADMIN ✅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Tombol pendaftaran HILANG,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diganti sapaan hangat: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900" b="1">
                <a:solidFill>
                  <a:srgbClr val="FFFFFF"/>
                </a:solidFill>
                <a:latin typeface="Segoe UI"/>
              </a:rPr>
              <a:t>"Apa kabar hari ini,</a:t>
            </a:r>
          </a:p>
          <a:p>
            <a:pPr algn="l"/>
            <a:r>
              <a:rPr sz="1900" b="1">
                <a:solidFill>
                  <a:srgbClr val="10B981"/>
                </a:solidFill>
                <a:latin typeface="Segoe UI"/>
              </a:rPr>
              <a:t>&lt;nama anggota&gt;?"</a:t>
            </a:r>
          </a:p>
          <a:p>
            <a:pPr algn="l"/>
            <a:r>
              <a:rPr sz="6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150" b="0">
                <a:solidFill>
                  <a:srgbClr val="94A3B8"/>
                </a:solidFill>
                <a:latin typeface="Segoe UI"/>
              </a:rPr>
              <a:t>+ info klaster &amp; peran anggota saat ini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5120640"/>
            <a:ext cx="11201400" cy="1005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Alur: HP terdaftar → Admin ACCEPT → beranda otomatis berubah → sapaan personal + badge "ANGGOTA TERDAFTAR &amp; DISETUJUI ADMIN" → anggota dapat memakai seluruh fitur (SOS, peta, direktori) sesuai perannya.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egoe UI"/>
              </a:rPr>
              <a:t>WORKFLOW 4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Alur Darurat SOS — Inti Aplikasi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148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🆘 Tekan Tombol SOS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Pilih jenis: Keamanan /
Medis / Kebakaran / Listrik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88336" y="225856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108960" y="1828800"/>
            <a:ext cx="2148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📢 Notifikasi Massal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Sirine + banner darurat ke
Satpam &amp; semua tetangga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294376" y="225856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15000" y="1828800"/>
            <a:ext cx="2148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🗺️ Peta Menyala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Blok kejadian berkedip
merah di peta klaster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900416" y="225856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321040" y="1828800"/>
            <a:ext cx="2148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🏃 "Saya Meluncur!"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Satpam/tetangga merespons:
Meluncur → Tiba → Memeriksa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506456" y="225856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27080" y="1828800"/>
            <a:ext cx="2148840" cy="109728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✅ Situasi Aman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Insiden SELESAI + konfeti
+ siaran audio "aman"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429000"/>
            <a:ext cx="11201400" cy="233172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Selama insiden berlangsung: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Thread komentar real-time — warga &amp; satpam berdiskusi memantau perkembangan situasi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Daftar responden tampil lengkap dengan status (Meluncur / Tiba di Lokasi / Memeriksa)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Banner sirine tetap tampil di semua halaman sampai insiden dinyatakan selesai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Statistik keamanan (jumlah insiden, rata-rata waktu tanggap ± 2,4 menit) diperbarui otomatis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WORKFLOW 5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Admin Menentukan Area pada Peta Klaster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🗺️ Buka Peta Klaster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Admin membuka tab
"Peta Klaster"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36392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📍 Tambah Area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Tentukan posisi (x, y), nama
blok, dan deskripsi area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216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🏷️ Pilih Tipe Area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Rumah • Pos Satpam •
CCTV • Taman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33688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98864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📲 Terpasang di Semua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Area tampil di aplikasi
SEMUA anggota klaster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11201400" cy="2377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400" b="1">
                <a:solidFill>
                  <a:srgbClr val="FFFFFF"/>
                </a:solidFill>
                <a:latin typeface="Segoe UI"/>
              </a:rPr>
              <a:t>Fungsi peta bagi seluruh anggota: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Melihat tata letak klaster: gerbang utama, pos satpam 24 jam, blok rumah A/B/C, CCTV, taman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Blok yang mengalami darurat menyala dengan animasi sirene merah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Klik ikon rumah untuk memantau status atau melaporkan SOS di blok tersebut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Hanya ADMIN (dan Superadmin) yang dapat menambah / menghapus area — warga hanya melihat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Segoe UI"/>
              </a:rPr>
              <a:t>WORKFLOW 6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Aplikasi Berbayar — Trial Gratis 14 Hari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28600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📝 Registrasi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Trial GRATIS 14 hari
dimulai otomatis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52928" y="219456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91840" y="1783080"/>
            <a:ext cx="228600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⏳ Masa Trial</a:t>
            </a:r>
          </a:p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Semua fitur terbuka;
sisa hari tampil di tab
Langganan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641848" y="219456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6080760" y="1691640"/>
            <a:ext cx="2286000" cy="1234440"/>
          </a:xfrm>
          <a:prstGeom prst="diamond">
            <a:avLst/>
          </a:prstGeom>
          <a:solidFill>
            <a:srgbClr val="1E293B"/>
          </a:solidFill>
          <a:ln w="158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Hari ke-14: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bayar?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430768" y="1801368"/>
            <a:ext cx="384048" cy="237744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1234440"/>
            <a:ext cx="2834640" cy="9144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💳 BAYAR → AKTIF</a:t>
            </a:r>
          </a:p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Bulanan Rp 25.000 atau
Tahunan Rp 250.000 (hemat 2 bln)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69680" y="2331720"/>
            <a:ext cx="2834640" cy="9144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Segoe UI"/>
              </a:rPr>
              <a:t>⛔ TIDAK → KEDALUWARSA</a:t>
            </a:r>
          </a:p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Akses dibatasi; hubungi CS /
pilih paket untuk lanjut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11201400" cy="22860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450" b="1">
                <a:solidFill>
                  <a:srgbClr val="6366F1"/>
                </a:solidFill>
                <a:latin typeface="Segoe UI"/>
              </a:rPr>
              <a:t>👑 Pengawasan Superadmin (tarafk1972@gmail.com)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Memantau status langganan SEMUA anggota (Trial / Aktif / Kedaluwarsa / Ditangguhkan)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Perpanjang Trial +14 Hari  •  Tangguhkan akun  •  Aktifkan kembali akun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Semua transaksi &amp; perubahan langganan tercatat dan hanya bisa dikelola oleh Superadmin (dilindungi API)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•  Superadmin sendiri berstatus GRATIS SELAMANYA sebagai pengawas platform &amp; Customer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Segoe UI"/>
              </a:rPr>
              <a:t>WORKFLOW 7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Superadmin &amp; Customer Service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📨 Pesan Masuk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Warga/calon komunitas kirim
formulir "Hubungi Kami"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136392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01568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👑 CS Menerima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Superadmin melihat antrean
pesan (status: BARU)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035040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00216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💬 Balas &amp; Proses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Tulis respons CS; status
menjadi DIPROSES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33688" y="2240280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98864" y="1828800"/>
            <a:ext cx="2606040" cy="105156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✅ Selesai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Pertanyaan terjawab /
komunitas baru terdaftar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383280"/>
            <a:ext cx="5486400" cy="2377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400" b="1">
                <a:solidFill>
                  <a:srgbClr val="6366F1"/>
                </a:solidFill>
                <a:latin typeface="Segoe UI"/>
              </a:rPr>
              <a:t>Tugas pengawasan Superadmin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Mengawasi kinerja semua Admin klaster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Memantau seluruh insiden &amp; statistik keamanan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Mengelola langganan berbayar semua anggota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Dapat menyetujui/menolak anggota di klaster mana pun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383280"/>
            <a:ext cx="5486400" cy="23774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400" b="1">
                <a:solidFill>
                  <a:srgbClr val="10B981"/>
                </a:solidFill>
                <a:latin typeface="Segoe UI"/>
              </a:rPr>
              <a:t>Identitas Superadmin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Ditentukan oleh email khusus: tarafk1972@gmail.com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Registrasi dengan email tsb → otomatis SUPERADMIN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Berperan ganda: pengawas platform + Customer Service</a:t>
            </a:r>
          </a:p>
          <a:p>
            <a:pPr algn="l"/>
            <a:r>
              <a:rPr sz="1200" b="0">
                <a:solidFill>
                  <a:srgbClr val="CBD5E1"/>
                </a:solidFill>
                <a:latin typeface="Segoe UI"/>
              </a:rPr>
              <a:t>•  Kontak CS tercantum di footer aplikasi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82296" cy="8686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92608"/>
            <a:ext cx="10972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egoe UI"/>
              </a:rPr>
              <a:t>TEKNIS &amp; RINGKASAN</a:t>
            </a:r>
          </a:p>
          <a:p>
            <a:pPr algn="l"/>
            <a:r>
              <a:rPr sz="3000" b="1">
                <a:solidFill>
                  <a:srgbClr val="FFFFFF"/>
                </a:solidFill>
                <a:latin typeface="Segoe UI"/>
              </a:rPr>
              <a:t>Arsitektur Aplikasi &amp; Alur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2651760" cy="1005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🖥️ Frontend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Next.js 14 + React 18
Tailwind CSS • i18n ID/EN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18688" y="216712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57600" y="1783080"/>
            <a:ext cx="3108960" cy="1005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🔌 REST API</a:t>
            </a:r>
          </a:p>
          <a:p>
            <a:pPr algn="ctr"/>
            <a:r>
              <a:rPr sz="900" b="0">
                <a:solidFill>
                  <a:srgbClr val="CBD5E1"/>
                </a:solidFill>
                <a:latin typeface="Segoe UI"/>
              </a:rPr>
              <a:t>/api/users • /api/incidents
/api/map-areas • /api/subscriptions
/api/contacts • /api/state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30568" y="216712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269480" y="1783080"/>
            <a:ext cx="2651760" cy="1005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🗄️ Database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Penyimpanan persisten
data/wargajagawarga.json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985248" y="2167128"/>
            <a:ext cx="384048" cy="237744"/>
          </a:xfrm>
          <a:prstGeom prst="rightArrow">
            <a:avLst/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424160" y="1783080"/>
            <a:ext cx="1325880" cy="100584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🔁 Sinkron</a:t>
            </a:r>
          </a:p>
          <a:p>
            <a:pPr algn="ctr"/>
            <a:r>
              <a:rPr sz="950" b="0">
                <a:solidFill>
                  <a:srgbClr val="CBD5E1"/>
                </a:solidFill>
                <a:latin typeface="Segoe UI"/>
              </a:rPr>
              <a:t>Semua
anggota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246120"/>
            <a:ext cx="11201400" cy="2514600"/>
          </a:xfrm>
          <a:prstGeom prst="roundRect">
            <a:avLst/>
          </a:prstGeom>
          <a:solidFill>
            <a:srgbClr val="1E293B"/>
          </a:solidFill>
          <a:ln w="1587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73152" rIns="73152" tIns="36576" bIns="36576" wrap="square"/>
          <a:lstStyle/>
          <a:p>
            <a:pPr algn="l"/>
            <a:r>
              <a:rPr sz="1500" b="1">
                <a:solidFill>
                  <a:srgbClr val="DC2626"/>
                </a:solidFill>
                <a:latin typeface="Segoe UI"/>
              </a:rPr>
              <a:t>Rangkuman alur lengkap aplikasi</a:t>
            </a:r>
          </a:p>
          <a:p>
            <a:pPr algn="l"/>
            <a:r>
              <a:rPr sz="500" b="0">
                <a:solidFill>
                  <a:srgbClr val="CBD5E1"/>
                </a:solidFill>
                <a:latin typeface="Segoe UI"/>
              </a:rPr>
              <a:t/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1.  Registrasi (pilih bahasa 🇮🇩/🇬🇧) → trial gratis 14 hari dimulai → antre persetujuan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2.  Pendaftar pertama klaster = ADMIN otomatis; Admin meng-accept/reject &amp; menetapkan peran anggota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3.  Disetujui → sapaan "Apa kabar hari ini, &lt;nama&gt;?" menggantikan tombol pendaftaran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4.  Anggota memakai SOS darurat, peta klaster (area diatur Admin), direktori &amp; statistik</a:t>
            </a:r>
          </a:p>
          <a:p>
            <a:pPr algn="l"/>
            <a:r>
              <a:rPr sz="1250" b="0">
                <a:solidFill>
                  <a:srgbClr val="CBD5E1"/>
                </a:solidFill>
                <a:latin typeface="Segoe UI"/>
              </a:rPr>
              <a:t>5.  Hari ke-14: pilih paket Bulanan/Tahunan; Superadmin (tarafk1972@gmail.com) mengawasi semuanya + 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97880"/>
            <a:ext cx="11201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Segoe UI"/>
              </a:rPr>
              <a:t>Terima kasih — WargaJagaWarga: Tanggap Darurat untuk Komunitas yang Lebih Aman 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475569"/>
                </a:solidFill>
              </a:rPr>
              <a:t>WargaJagaWarga — Workflow Aplikasi   •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